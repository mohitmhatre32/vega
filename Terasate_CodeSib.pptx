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Montserrat" charset="1" panose="00000500000000000000"/>
      <p:regular r:id="rId11"/>
    </p:embeddedFont>
    <p:embeddedFont>
      <p:font typeface="Montserrat Bold" charset="1" panose="0000080000000000000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80698" y="2327999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500" y="0"/>
                </a:moveTo>
                <a:lnTo>
                  <a:pt x="0" y="0"/>
                </a:lnTo>
                <a:lnTo>
                  <a:pt x="0" y="6930301"/>
                </a:lnTo>
                <a:lnTo>
                  <a:pt x="6892500" y="6930301"/>
                </a:lnTo>
                <a:lnTo>
                  <a:pt x="68925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949763" y="2327999"/>
            <a:ext cx="6892499" cy="6930301"/>
          </a:xfrm>
          <a:custGeom>
            <a:avLst/>
            <a:gdLst/>
            <a:ahLst/>
            <a:cxnLst/>
            <a:rect r="r" b="b" t="t" l="l"/>
            <a:pathLst>
              <a:path h="6930301" w="6892499">
                <a:moveTo>
                  <a:pt x="6892499" y="0"/>
                </a:moveTo>
                <a:lnTo>
                  <a:pt x="0" y="0"/>
                </a:lnTo>
                <a:lnTo>
                  <a:pt x="0" y="6930301"/>
                </a:lnTo>
                <a:lnTo>
                  <a:pt x="6892499" y="6930301"/>
                </a:lnTo>
                <a:lnTo>
                  <a:pt x="689249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708433" y="2325033"/>
            <a:ext cx="10767125" cy="262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000"/>
              </a:lnSpc>
              <a:spcBef>
                <a:spcPct val="0"/>
              </a:spcBef>
            </a:pPr>
            <a:r>
              <a:rPr lang="en-US" sz="5000" spc="-305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Terasate :- AI-Based Satellite Image Land Use &amp; Terrain Classification System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842262" y="6516387"/>
            <a:ext cx="429771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Team name :- CodeSib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42262" y="7339347"/>
            <a:ext cx="2809875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spc="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Domain : AIML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885615" y="1411899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2621764" y="0"/>
                </a:moveTo>
                <a:lnTo>
                  <a:pt x="0" y="0"/>
                </a:lnTo>
                <a:lnTo>
                  <a:pt x="0" y="2636144"/>
                </a:lnTo>
                <a:lnTo>
                  <a:pt x="2621764" y="2636144"/>
                </a:lnTo>
                <a:lnTo>
                  <a:pt x="2621764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445554" y="7940228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0" y="0"/>
                </a:moveTo>
                <a:lnTo>
                  <a:pt x="2621764" y="0"/>
                </a:lnTo>
                <a:lnTo>
                  <a:pt x="2621764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83503" y="7940228"/>
            <a:ext cx="2621765" cy="2636144"/>
          </a:xfrm>
          <a:custGeom>
            <a:avLst/>
            <a:gdLst/>
            <a:ahLst/>
            <a:cxnLst/>
            <a:rect r="r" b="b" t="t" l="l"/>
            <a:pathLst>
              <a:path h="2636144" w="2621765">
                <a:moveTo>
                  <a:pt x="0" y="0"/>
                </a:moveTo>
                <a:lnTo>
                  <a:pt x="2621765" y="0"/>
                </a:lnTo>
                <a:lnTo>
                  <a:pt x="2621765" y="2636144"/>
                </a:lnTo>
                <a:lnTo>
                  <a:pt x="0" y="26361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02172" y="1070137"/>
            <a:ext cx="7837011" cy="112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100"/>
              </a:lnSpc>
              <a:spcBef>
                <a:spcPct val="0"/>
              </a:spcBef>
            </a:pPr>
            <a:r>
              <a:rPr lang="en-US" sz="6500" spc="-3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Problem Statement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36149" y="2605155"/>
            <a:ext cx="6531144" cy="558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6761" indent="-238380" lvl="1">
              <a:lnSpc>
                <a:spcPts val="4968"/>
              </a:lnSpc>
              <a:buFont typeface="Arial"/>
              <a:buChar char="•"/>
            </a:pPr>
            <a:r>
              <a:rPr lang="en-US" sz="2208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Manual analysis of satellite imagery is slow and error-prone at scale</a:t>
            </a:r>
          </a:p>
          <a:p>
            <a:pPr algn="just" marL="476761" indent="-238380" lvl="1">
              <a:lnSpc>
                <a:spcPts val="4968"/>
              </a:lnSpc>
              <a:buFont typeface="Arial"/>
              <a:buChar char="•"/>
            </a:pPr>
            <a:r>
              <a:rPr lang="en-US" sz="2208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No real-time tool to classify terrain types (Urban, Forest, Water, Agricultural, Barren)</a:t>
            </a:r>
          </a:p>
          <a:p>
            <a:pPr algn="just" marL="476761" indent="-238380" lvl="1">
              <a:lnSpc>
                <a:spcPts val="4968"/>
              </a:lnSpc>
              <a:buFont typeface="Arial"/>
              <a:buChar char="•"/>
            </a:pPr>
            <a:r>
              <a:rPr lang="en-US" sz="2208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Lack of change-detection to track urban expansion or deforestation over time</a:t>
            </a:r>
          </a:p>
          <a:p>
            <a:pPr algn="just" marL="476761" indent="-238380" lvl="1">
              <a:lnSpc>
                <a:spcPts val="4968"/>
              </a:lnSpc>
              <a:buFont typeface="Arial"/>
              <a:buChar char="•"/>
            </a:pPr>
            <a:r>
              <a:rPr lang="en-US" sz="2208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Researchers lack a unified platform for model comparison and augmentation preview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524252" y="1079662"/>
            <a:ext cx="5078571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9099"/>
              </a:lnSpc>
              <a:spcBef>
                <a:spcPct val="0"/>
              </a:spcBef>
            </a:pPr>
            <a:r>
              <a:rPr lang="en-US" sz="6499" spc="-396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Our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935269" y="2453746"/>
            <a:ext cx="6932726" cy="6169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7140" indent="-238570" lvl="1">
              <a:lnSpc>
                <a:spcPts val="5525"/>
              </a:lnSpc>
              <a:buFont typeface="Arial"/>
              <a:buChar char="•"/>
            </a:pPr>
            <a:r>
              <a:rPr lang="en-US" sz="221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AI-powered ResNet50 model trained on ISRO satellite patch dataset - 94.7% accuracy</a:t>
            </a:r>
          </a:p>
          <a:p>
            <a:pPr algn="l" marL="477140" indent="-238570" lvl="1">
              <a:lnSpc>
                <a:spcPts val="5525"/>
              </a:lnSpc>
              <a:buFont typeface="Arial"/>
              <a:buChar char="•"/>
            </a:pPr>
            <a:r>
              <a:rPr lang="en-US" sz="221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Instant terrain classification from any uploaded satellite image in milliseconds</a:t>
            </a:r>
          </a:p>
          <a:p>
            <a:pPr algn="l" marL="477140" indent="-238570" lvl="1">
              <a:lnSpc>
                <a:spcPts val="5525"/>
              </a:lnSpc>
              <a:buFont typeface="Arial"/>
              <a:buChar char="•"/>
            </a:pPr>
            <a:r>
              <a:rPr lang="en-US" sz="221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Change-detection engine compares two time-period images and computes area shift (km²)</a:t>
            </a:r>
          </a:p>
          <a:p>
            <a:pPr algn="l" marL="477140" indent="-238570" lvl="1">
              <a:lnSpc>
                <a:spcPts val="5525"/>
              </a:lnSpc>
              <a:buFont typeface="Arial"/>
              <a:buChar char="•"/>
            </a:pPr>
            <a:r>
              <a:rPr lang="en-US" sz="2210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leaderboard + augmentation preview for scientific reproducibility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89207" y="246072"/>
            <a:ext cx="16109585" cy="1654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3594"/>
              </a:lnSpc>
              <a:spcBef>
                <a:spcPct val="0"/>
              </a:spcBef>
            </a:pPr>
            <a:r>
              <a:rPr lang="en-US" sz="9710" spc="-5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Features Implementation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6283483" y="2507836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27414" y="2507836"/>
            <a:ext cx="6713643" cy="6750464"/>
          </a:xfrm>
          <a:custGeom>
            <a:avLst/>
            <a:gdLst/>
            <a:ahLst/>
            <a:cxnLst/>
            <a:rect r="r" b="b" t="t" l="l"/>
            <a:pathLst>
              <a:path h="6750464" w="6713643">
                <a:moveTo>
                  <a:pt x="0" y="0"/>
                </a:moveTo>
                <a:lnTo>
                  <a:pt x="6713643" y="0"/>
                </a:lnTo>
                <a:lnTo>
                  <a:pt x="6713643" y="6750464"/>
                </a:lnTo>
                <a:lnTo>
                  <a:pt x="0" y="675046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5820" y="2279236"/>
            <a:ext cx="11181594" cy="7246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Single Image Classification - Upload a satellite patch → get terrain label + confidence score + per-class probability breakdown</a:t>
            </a:r>
          </a:p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Batch Processing - Upload multiple patches at once; receive aggregated terrain distribution stats</a:t>
            </a:r>
          </a:p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Change Detection - Upload Year-1 &amp; Year-2 images → calculates area shift in km² and % change per terrain class</a:t>
            </a:r>
          </a:p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Augmentation Preview - Preview 3 data-augmentation variants: 90° Rotation, Horizontal Flip, Brightness boost</a:t>
            </a:r>
          </a:p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PDF Reporting - Users can export processed results and visualizations as PDF reports for offline access and documentation.</a:t>
            </a:r>
          </a:p>
          <a:p>
            <a:pPr algn="l" marL="442888" indent="-221444" lvl="1">
              <a:lnSpc>
                <a:spcPts val="48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Analytics Dashboard - Training loss curve, confusion matrix (5 classes), model reliability (96.7%), system performance metrics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4279924" y="3411300"/>
            <a:ext cx="3823418" cy="3844387"/>
          </a:xfrm>
          <a:custGeom>
            <a:avLst/>
            <a:gdLst/>
            <a:ahLst/>
            <a:cxnLst/>
            <a:rect r="r" b="b" t="t" l="l"/>
            <a:pathLst>
              <a:path h="3844387" w="3823418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1856094" y="3411300"/>
            <a:ext cx="3823418" cy="3844387"/>
          </a:xfrm>
          <a:custGeom>
            <a:avLst/>
            <a:gdLst/>
            <a:ahLst/>
            <a:cxnLst/>
            <a:rect r="r" b="b" t="t" l="l"/>
            <a:pathLst>
              <a:path h="3844387" w="3823418">
                <a:moveTo>
                  <a:pt x="3823418" y="0"/>
                </a:moveTo>
                <a:lnTo>
                  <a:pt x="0" y="0"/>
                </a:lnTo>
                <a:lnTo>
                  <a:pt x="0" y="3844387"/>
                </a:lnTo>
                <a:lnTo>
                  <a:pt x="3823418" y="3844387"/>
                </a:lnTo>
                <a:lnTo>
                  <a:pt x="382341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055" y="2175249"/>
            <a:ext cx="10659107" cy="7083051"/>
          </a:xfrm>
          <a:custGeom>
            <a:avLst/>
            <a:gdLst/>
            <a:ahLst/>
            <a:cxnLst/>
            <a:rect r="r" b="b" t="t" l="l"/>
            <a:pathLst>
              <a:path h="7083051" w="10659107">
                <a:moveTo>
                  <a:pt x="0" y="0"/>
                </a:moveTo>
                <a:lnTo>
                  <a:pt x="10659107" y="0"/>
                </a:lnTo>
                <a:lnTo>
                  <a:pt x="10659107" y="7083051"/>
                </a:lnTo>
                <a:lnTo>
                  <a:pt x="0" y="70830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62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503179"/>
            <a:ext cx="11327396" cy="153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2563"/>
              </a:lnSpc>
              <a:spcBef>
                <a:spcPct val="0"/>
              </a:spcBef>
            </a:pPr>
            <a:r>
              <a:rPr lang="en-US" sz="8973" spc="-547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System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73155" y="392620"/>
            <a:ext cx="12541690" cy="1658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594"/>
              </a:lnSpc>
              <a:spcBef>
                <a:spcPct val="0"/>
              </a:spcBef>
            </a:pPr>
            <a:r>
              <a:rPr lang="en-US" sz="9710" spc="-5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Technology Stack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5359" y="2392062"/>
            <a:ext cx="7144643" cy="402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2199" spc="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Layer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FastAPI — High-performance async REST API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Python 3.x — Core backend language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PyTorch + TorchVision — Deep learning model inference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Pillow / NumPy — Image preprocessing &amp; array operations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Uvicorn — ASGI production web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2159" y="2392062"/>
            <a:ext cx="7144643" cy="402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b="true" sz="2199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layer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Next.js 14 — React framework with App Router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TypeScript — Typed component development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Tailwind CSS — Utility-first styling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Framer Motion — Animations &amp; transitions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Recharts — Data visualization (loss curve, dashboards)</a:t>
            </a:r>
          </a:p>
          <a:p>
            <a:pPr algn="l" marL="442888" indent="-221444" lvl="1">
              <a:lnSpc>
                <a:spcPts val="4000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Lucide Icons — Consistent iconography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556075" y="6645927"/>
            <a:ext cx="9175849" cy="3465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1"/>
              </a:lnSpc>
            </a:pPr>
            <a:r>
              <a:rPr lang="en-US" b="true" sz="2199" spc="4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/ ML Engine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ResNet50 — Base classification model architecture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isro_model.pth (~94 MB) — Trained ISRO terrain classifier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Heuristic Filter — Pixel-math override for shadow/water edge cases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GPU Semaphore — Parallel inference throttle (max 2 concurrent)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Softmax output — Per-class confidence probabilities</a:t>
            </a:r>
          </a:p>
          <a:p>
            <a:pPr algn="l" marL="442888" indent="-221444" lvl="1">
              <a:lnSpc>
                <a:spcPts val="3918"/>
              </a:lnSpc>
              <a:buFont typeface="Arial"/>
              <a:buChar char="•"/>
            </a:pPr>
            <a:r>
              <a:rPr lang="en-US" sz="2051" spc="4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 Augmentation — Rotation, flip, brightness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DAHB22Z38Rs</dc:identifier>
  <dcterms:modified xsi:type="dcterms:W3CDTF">2011-08-01T06:04:30Z</dcterms:modified>
  <cp:revision>1</cp:revision>
  <dc:title>Black and Blue Modern Logistic Presentation</dc:title>
</cp:coreProperties>
</file>